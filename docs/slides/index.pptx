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3" Type="http://schemas.openxmlformats.org/officeDocument/2006/relationships/viewProps" Target="viewProps.xml" /><Relationship Id="rId5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5" Type="http://schemas.openxmlformats.org/officeDocument/2006/relationships/tableStyles" Target="tableStyles.xml" /><Relationship Id="rId5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elmundo.es/cronica/2001/CR280/CR280-13.html" TargetMode="Externa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olacaos.github.io/ColaCAOS/" TargetMode="External" /><Relationship Id="rId3" Type="http://schemas.openxmlformats.org/officeDocument/2006/relationships/hyperlink" Target="https://github.com/ColaCaos/ColaCAOS/blob/master/quarto/caos-memoria/memoria.pdf" TargetMode="External" /><Relationship Id="rId4" Type="http://schemas.openxmlformats.org/officeDocument/2006/relationships/hyperlink" Target="https://github.com/ColaCaos/ColaCAOS/blob/master/quarto/caos-memoria/memoria.tex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Estudio del Caos en sistemas físicos y su relación con la predicción meteorológica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¿Es el Universo predecible en detalle?</a:t>
            </a:r>
            <a:br/>
            <a:br/>
            <a:r>
              <a:rPr/>
              <a:t>Rubén Torre Merino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2025-12-02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Introducción. Motivación y contexto</a:t>
            </a:r>
          </a:p>
          <a:p>
            <a:pPr lvl="0"/>
            <a:r>
              <a:rPr/>
              <a:t>Caos en las matemáticas</a:t>
            </a:r>
          </a:p>
          <a:p>
            <a:pPr lvl="0"/>
            <a:r>
              <a:rPr/>
              <a:t>Caos en simulaciones de sistemas físicos</a:t>
            </a:r>
          </a:p>
          <a:p>
            <a:pPr lvl="0"/>
            <a:r>
              <a:rPr/>
              <a:t>Caos en sistemas reales: experimentos y observaciones</a:t>
            </a:r>
          </a:p>
          <a:p>
            <a:pPr lvl="0"/>
            <a:r>
              <a:rPr/>
              <a:t>Caos atmosférico</a:t>
            </a:r>
          </a:p>
          <a:p>
            <a:pPr lvl="0"/>
            <a:r>
              <a:rPr/>
              <a:t>Determinismo y caos</a:t>
            </a:r>
          </a:p>
          <a:p>
            <a:pPr lvl="0"/>
            <a:r>
              <a:rPr/>
              <a:t>Conclusiones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Parte 1 · Motivación y contexto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¿Podemos predecir el estado futuro de cualquier sistema con ecuaciones matemáticas y ordenadores 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Parte 2 · Caos en los cálculos matemáticos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mapa logístico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r</m:t>
                          </m:r>
                          <m:r>
                            <m:t> 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n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n</m:t>
                                  </m:r>
                                </m:sub>
                              </m:sSub>
                            </m:e>
                          </m:d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∈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∈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4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Diagrama de telaraña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Sensibilidad extrema a las condiciones iniciales</a:t>
            </a:r>
          </a:p>
        </p:txBody>
      </p:sp>
      <p:pic>
        <p:nvPicPr>
          <p:cNvPr descr="slides_files/figure-pptx/cell-2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1193800"/>
            <a:ext cx="6096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Efecto Mariposa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Inestabilidad de los cálculos numéricos</a:t>
            </a:r>
          </a:p>
        </p:txBody>
      </p:sp>
      <p:pic>
        <p:nvPicPr>
          <p:cNvPr descr="img/errornumeric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7700" y="1193800"/>
            <a:ext cx="3657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Fórmula 1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4</m:t>
                      </m:r>
                      <m:r>
                        <m:t> 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n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Fórmula 2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4</m:t>
                      </m:r>
                      <m:r>
                        <m:t> 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r>
                        <m:t>4</m:t>
                      </m:r>
                      <m:r>
                        <m:t> </m:t>
                      </m:r>
                      <m:sSubSup>
                        <m:e>
                          <m:r>
                            <m:t>x</m:t>
                          </m:r>
                        </m:e>
                        <m:sub>
                          <m:r>
                            <m:t>n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Inestabilidad de los cálculos numéricos</a:t>
            </a:r>
          </a:p>
        </p:txBody>
      </p:sp>
      <p:pic>
        <p:nvPicPr>
          <p:cNvPr descr="img/errornumerico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7700" y="1193800"/>
            <a:ext cx="3657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Ajuste de regresión del error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m:t>log</m:t>
                          </m:r>
                        </m:e>
                        <m:sub>
                          <m:r>
                            <m:t>10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p"/>
                                </m:rP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m:t>r</m:t>
                              </m:r>
                              <m:r>
                                <m:rPr>
                                  <m:sty m:val="p"/>
                                </m:rPr>
                                <m:t>r</m:t>
                              </m:r>
                              <m:r>
                                <m:rPr>
                                  <m:sty m:val="p"/>
                                </m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m:t>r</m:t>
                              </m:r>
                            </m:e>
                            <m:sub>
                              <m:r>
                                <m:t>n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≈</m:t>
                      </m:r>
                      <m:r>
                        <m:t>0.303</m:t>
                      </m:r>
                      <m:r>
                        <m:t> 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C</m:t>
                      </m:r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Sin logaritmos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m:t>e</m:t>
                          </m:r>
                          <m:r>
                            <m:rPr>
                              <m:sty m:val="p"/>
                            </m:rPr>
                            <m:t>r</m:t>
                          </m:r>
                          <m:r>
                            <m:rPr>
                              <m:sty m:val="p"/>
                            </m:rPr>
                            <m:t>r</m:t>
                          </m:r>
                          <m:r>
                            <m:rPr>
                              <m:sty m:val="p"/>
                            </m:rPr>
                            <m:t>o</m:t>
                          </m:r>
                          <m:r>
                            <m:rPr>
                              <m:sty m:val="p"/>
                            </m:rPr>
                            <m:t>r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≈</m:t>
                      </m:r>
                      <m:r>
                        <m:t>A</m:t>
                      </m:r>
                      <m:r>
                        <m:t> 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t>0.698</m:t>
                          </m:r>
                          <m:r>
                            <m:t> </m:t>
                          </m:r>
                          <m:r>
                            <m:t>n</m:t>
                          </m:r>
                        </m:sup>
                      </m:sSup>
                      <m:r>
                        <m:rPr>
                          <m:sty m:val="p"/>
                        </m:rPr>
                        <m:t>≈</m:t>
                      </m:r>
                      <m:r>
                        <m:t>A</m:t>
                      </m:r>
                      <m:r>
                        <m:t> 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2.01</m:t>
                              </m:r>
                            </m:e>
                          </m:d>
                        </m:e>
                        <m:sup>
                          <m:r>
                            <m:t>n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Exponente de Lyapunov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δ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≈</m:t>
                      </m:r>
                      <m:sSub>
                        <m:e>
                          <m:r>
                            <m:t>δ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t> 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t>λ</m:t>
                          </m:r>
                          <m:r>
                            <m:t>n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exponente de Lyapunov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$$
\ln\bigl(\delta_n/\delta_0\bigr)
= \ln\Bigl(\prod_{k=0}^{n-1} f'(x_k)\Bigr)
= \sum_{k=0}^{n-1}\ln\bigl|f'(x_k)\bigr|.
$$</a:t>
            </a:r>
          </a:p>
          <a:p>
            <a:pPr lvl="0" indent="0" marL="0">
              <a:buNone/>
            </a:pPr>
            <a:r>
              <a:rPr/>
              <a:t>$$
   \boxed{T_p = \frac{1}{\lambda_{\max}}\,\ln\!\Bigl(\tfrac{\Delta}{\delta_0}\Bigr)}
   \label{eq:Tp}
$$</a:t>
            </a:r>
          </a:p>
          <a:p>
            <a:pPr lvl="0" indent="0" marL="0">
              <a:buNone/>
            </a:pPr>
            <a:r>
              <a:rPr/>
              <a:t>Un exponente de Lyapunov positivo indica en la mayoría de ocasiones que el sistema es caótico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Parte 3a· Caos en simulaciones de sistemas físicos. </a:t>
            </a:r>
            <a:r>
              <a:rPr i="1"/>
              <a:t>La rueda caótica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rueda caótica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Rueda</a:t>
            </a:r>
          </a:p>
          <a:p>
            <a:pPr lvl="0" indent="0" marL="0">
              <a:buNone/>
            </a:pPr>
            <a:r>
              <a:rPr/>
              <a:t>Diám. ext.</a:t>
            </a:r>
          </a:p>
          <a:p>
            <a:pPr lvl="0" indent="0" marL="0">
              <a:buNone/>
            </a:pPr>
            <a:r>
              <a:rPr/>
              <a:t>2.5 m</a:t>
            </a:r>
          </a:p>
          <a:p>
            <a:pPr lvl="0" indent="0" marL="0">
              <a:buNone/>
            </a:pPr>
            <a:r>
              <a:rPr/>
              <a:t>Diám. int.</a:t>
            </a:r>
          </a:p>
          <a:p>
            <a:pPr lvl="0" indent="0" marL="0">
              <a:buNone/>
            </a:pPr>
            <a:r>
              <a:rPr/>
              <a:t>2.0 m</a:t>
            </a:r>
          </a:p>
          <a:p>
            <a:pPr lvl="0" indent="0" marL="0">
              <a:buNone/>
            </a:pPr>
            <a:r>
              <a:rPr/>
              <a:t>Grosor</a:t>
            </a:r>
          </a:p>
          <a:p>
            <a:pPr lvl="0" indent="0" marL="0">
              <a:buNone/>
            </a:pPr>
            <a:r>
              <a:rPr/>
              <a:t>25 cm</a:t>
            </a:r>
          </a:p>
          <a:p>
            <a:pPr lvl="0" indent="0" marL="0">
              <a:buNone/>
            </a:pPr>
            <a:r>
              <a:rPr/>
              <a:t>Material</a:t>
            </a:r>
          </a:p>
          <a:p>
            <a:pPr lvl="0" indent="0" marL="0">
              <a:buNone/>
            </a:pPr>
            <a:r>
              <a:rPr/>
              <a:t>Madera</a:t>
            </a:r>
          </a:p>
          <a:p>
            <a:pPr lvl="0" indent="0" marL="0">
              <a:buNone/>
            </a:pPr>
            <a:r>
              <a:rPr/>
              <a:t>Canicas</a:t>
            </a:r>
          </a:p>
          <a:p>
            <a:pPr lvl="0" indent="0" marL="0">
              <a:buNone/>
            </a:pPr>
            <a:r>
              <a:rPr/>
              <a:t>Diámetro</a:t>
            </a:r>
          </a:p>
          <a:p>
            <a:pPr lvl="0" indent="0" marL="0">
              <a:buNone/>
            </a:pPr>
            <a:r>
              <a:rPr/>
              <a:t>61 mm</a:t>
            </a:r>
          </a:p>
          <a:p>
            <a:pPr lvl="0" indent="0" marL="0">
              <a:buNone/>
            </a:pPr>
            <a:r>
              <a:rPr/>
              <a:t>Material</a:t>
            </a:r>
          </a:p>
          <a:p>
            <a:pPr lvl="0" indent="0" marL="0">
              <a:buNone/>
            </a:pPr>
            <a:r>
              <a:rPr/>
              <a:t>Acero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rueda caótica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Atractor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Parte 3b· Caos en simulaciones de sistemas físicos. </a:t>
            </a:r>
            <a:r>
              <a:rPr i="1"/>
              <a:t>El péndulo doble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Simulación del péndulo doble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Simulación de 10.000 pendulos dobles separados inicialmente 10 microgrados</a:t>
            </a:r>
          </a:p>
          <a:p>
            <a:pPr lvl="0" indent="0" marL="0">
              <a:buNone/>
            </a:pPr>
            <a:r>
              <a:rPr/>
              <a:t>Separación total de 0.1 grados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Simulación del péndulo doble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Simulación de 36×36 de péndulos dobles en paralelo separados 10 grados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Simulación del péndulo doble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Simulación de 720x720 de péndulos dobles en paralelo separados 0.5 grados</a:t>
            </a:r>
          </a:p>
          <a:p>
            <a:pPr lvl="0" indent="0" marL="0">
              <a:buNone/>
            </a:pPr>
            <a:r>
              <a:rPr/>
              <a:t>Cada color representa el mismo estado del péndulo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Simulación del péndulo doble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Simulación de 720x720 de péndulos dobles en paralelo separados 0.5 grados</a:t>
            </a:r>
          </a:p>
          <a:p>
            <a:pPr lvl="0" indent="0" marL="0">
              <a:buNone/>
            </a:pPr>
            <a:r>
              <a:rPr/>
              <a:t>Por cada zoom seleccionado, se simulan 720x720 péndulos dentro de los ángulos del zoom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Variable predecible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Parte 4 · Caos en la realidad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Observando el péndulo doble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Comparando el péndulo doble y el simple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Parte 5a · Caos en la Meteorología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Temperatura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Entrevista con técnicos de la AEMET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Parte 5b · Caos en el Clima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clima y el Caos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«Climate may or may not be deterministic, We shall probably never know for sure»</a:t>
            </a:r>
          </a:p>
          <a:p>
            <a:pPr lvl="0" indent="0" marL="0">
              <a:buNone/>
            </a:pPr>
            <a:r>
              <a:rPr/>
              <a:t>— Edward Lorenz, 1961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clima y el Caos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«El sistema climático es inherentemente no lineal y caótico, lo que hace que su predictibilidad sea inevitablemente limitada. Incluso con modelos y observaciones arbitrariamente precisos, existen límites fundamentales a la capacidad de predecir un sistema no lineal como el clima.»</a:t>
            </a:r>
          </a:p>
          <a:p>
            <a:pPr lvl="0" indent="0" marL="0">
              <a:buNone/>
            </a:pPr>
            <a:r>
              <a:rPr/>
              <a:t>— American Meteorological Society, 2000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Ralentización del deshielo ártico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Predicción ❄️(Swart et al., Nature Climate Change, 2015)</a:t>
            </a:r>
          </a:p>
          <a:p>
            <a:pPr lvl="0" indent="0" marL="0">
              <a:buNone/>
            </a:pPr>
            <a:r>
              <a:rPr/>
              <a:t>Pausas largas del deshielo muy improbables (≈5% para 20 años).</a:t>
            </a:r>
          </a:p>
          <a:p>
            <a:pPr lvl="0" indent="0" marL="0">
              <a:buNone/>
            </a:pPr>
            <a:r>
              <a:rPr/>
              <a:t>Realidad ❄️📉(England et al., GRL 2025)</a:t>
            </a:r>
          </a:p>
          <a:p>
            <a:pPr lvl="0" indent="0" marL="0">
              <a:buNone/>
            </a:pPr>
            <a:r>
              <a:rPr/>
              <a:t>Desde 2005 el mínimo de hielo está casi estancado (~20 años), dentro del 5% menos probable.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Número global de huracanes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Predicción 🌀📈(ONU, 2007)</a:t>
            </a:r>
          </a:p>
          <a:p>
            <a:pPr lvl="0" indent="0" marL="0">
              <a:buNone/>
            </a:pPr>
            <a:r>
              <a:rPr/>
              <a:t>Más frecuencia e intensidad de ciclones tropicales.</a:t>
            </a:r>
          </a:p>
          <a:p>
            <a:pPr lvl="0" indent="0" marL="0">
              <a:buNone/>
            </a:pPr>
            <a:r>
              <a:rPr/>
              <a:t>Realidad 🌀📉(Nature Climate Change + NOAA)</a:t>
            </a:r>
          </a:p>
          <a:p>
            <a:pPr lvl="0" indent="0" marL="0">
              <a:buNone/>
            </a:pPr>
            <a:r>
              <a:rPr/>
              <a:t>Frecuencia global ↓ ~13% en el siglo XX; sin tendencia clara en 50 años.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Lluvia en la cuenca mediterránea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Predicción 🌧️📉(IPCC AR4, 2007)</a:t>
            </a:r>
          </a:p>
          <a:p>
            <a:pPr lvl="0" indent="0" marL="0">
              <a:buNone/>
            </a:pPr>
            <a:r>
              <a:rPr/>
              <a:t>Descenso muy probable de la precipitación y menos días de lluvia.</a:t>
            </a:r>
          </a:p>
          <a:p>
            <a:pPr lvl="0" indent="0" marL="0">
              <a:buNone/>
            </a:pPr>
            <a:r>
              <a:rPr/>
              <a:t>Realidad 🌧️➡️(Nature 2025)</a:t>
            </a:r>
          </a:p>
          <a:p>
            <a:pPr lvl="0" indent="0" marL="0">
              <a:buNone/>
            </a:pPr>
            <a:r>
              <a:rPr/>
              <a:t>La precipitación mediterránea permanece prácticamente estacionaria durante ~150 años.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Lluvia en España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Predicción 🌧️📉(PNACC 2006 / Evaluación 2005)</a:t>
            </a:r>
          </a:p>
          <a:p>
            <a:pPr lvl="0" indent="0" marL="0">
              <a:buNone/>
            </a:pPr>
            <a:r>
              <a:rPr/>
              <a:t>Disminución general de la precipitación y más eventos extremos.</a:t>
            </a:r>
          </a:p>
          <a:p>
            <a:pPr lvl="0" indent="0" marL="0">
              <a:buNone/>
            </a:pPr>
            <a:r>
              <a:rPr/>
              <a:t>Realidad 🌧️➡️(Aemet + CRU TS 4.05)</a:t>
            </a:r>
          </a:p>
          <a:p>
            <a:pPr lvl="0" indent="0" marL="0">
              <a:buNone/>
            </a:pPr>
            <a:r>
              <a:rPr/>
              <a:t>Tendencia muy débil; sin descenso significativo desde 1961.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Inundaciones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Predicción 🌧️📈(IPCC AR4, 2007)</a:t>
            </a:r>
          </a:p>
          <a:p>
            <a:pPr lvl="0" indent="0" marL="0">
              <a:buNone/>
            </a:pPr>
            <a:r>
              <a:rPr/>
              <a:t>Más lluvia intensa → mayor riesgo de inundaciones.</a:t>
            </a:r>
          </a:p>
          <a:p>
            <a:pPr lvl="0" indent="0" marL="0">
              <a:buNone/>
            </a:pPr>
            <a:r>
              <a:rPr/>
              <a:t>Realidad 🌧️➡️(Climatic Change 2025 + Nature 2020)</a:t>
            </a:r>
          </a:p>
          <a:p>
            <a:pPr lvl="0" indent="0" marL="0">
              <a:buNone/>
            </a:pPr>
            <a:r>
              <a:rPr/>
              <a:t>Eventos recientes no son inéditos; crecidas mayores ocurrieron antes del s. XX.</a:t>
            </a:r>
            <a:br/>
            <a:r>
              <a:rPr/>
              <a:t>Global (1971–2010): sin tendencia consistente.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Sequías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Predicción 🌵📈(IPCC AR4, 2007)</a:t>
            </a:r>
          </a:p>
          <a:p>
            <a:pPr lvl="0" indent="0" marL="0">
              <a:buNone/>
            </a:pPr>
            <a:r>
              <a:rPr/>
              <a:t>Expansión de áreas afectadas por sequía.</a:t>
            </a:r>
          </a:p>
          <a:p>
            <a:pPr lvl="0" indent="0" marL="0">
              <a:buNone/>
            </a:pPr>
            <a:r>
              <a:rPr/>
              <a:t>Realidad 🌵➡️(AR5 2013 + SREX 2012 + Nature 2012)</a:t>
            </a:r>
          </a:p>
          <a:p>
            <a:pPr lvl="0" indent="0" marL="0">
              <a:buNone/>
            </a:pPr>
            <a:r>
              <a:rPr/>
              <a:t>Baja confianza en tendencia global; evidencia insuficiente.</a:t>
            </a:r>
            <a:br/>
            <a:r>
              <a:rPr/>
              <a:t>Poco cambio en sequía global en 60 años.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Anécdota 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Predicciones realizadas por la ONU en 2001 para el 2020</a:t>
            </a:r>
            <a:br/>
            <a:r>
              <a:rPr>
                <a:hlinkClick r:id="rId2"/>
              </a:rPr>
              <a:t>Artículo en El Mundo – CR280-13 (2001)</a:t>
            </a:r>
          </a:p>
          <a:p>
            <a:pPr lvl="0"/>
            <a:r>
              <a:rPr/>
              <a:t>🌊 En 2020 no habría playas en el Mediterráneo ni en el Atlántico</a:t>
            </a:r>
          </a:p>
          <a:p>
            <a:pPr lvl="0"/>
            <a:r>
              <a:rPr/>
              <a:t>🌴 El norte de España estaría lleno de palmeras</a:t>
            </a:r>
            <a:br/>
          </a:p>
          <a:p>
            <a:pPr lvl="0"/>
            <a:r>
              <a:rPr/>
              <a:t>🌀🌩️ El número y la violencia de huracanes se habría disparado</a:t>
            </a:r>
          </a:p>
          <a:p>
            <a:pPr lvl="0"/>
            <a:r>
              <a:rPr/>
              <a:t>🏝️➡️🌊 Casi 300 islas del Pacífico habrían sido hundidas por la subida del mar.</a:t>
            </a:r>
            <a:br/>
          </a:p>
          <a:p>
            <a:pPr lvl="0"/>
            <a:r>
              <a:rPr/>
              <a:t>🌊🗺️ Los deltas del Rin, Ebro y Guadalquivir habrían desaparecido bajo el agua.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Parte 6 · Determinismo y Caos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Tiempo, Leyes y Futuro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Determinismo (Laplace)</a:t>
            </a:r>
          </a:p>
          <a:p>
            <a:pPr lvl="0" indent="0" marL="0">
              <a:buNone/>
            </a:pPr>
            <a:r>
              <a:rPr/>
              <a:t>🎯 Conoces el presente ⇒ futuro fijo 🔒 El azar no existe. Es ignorancia humana 🚫 </a:t>
            </a:r>
            <a:r>
              <a:rPr b="1"/>
              <a:t>El tiempo no crea novedad</a:t>
            </a:r>
            <a:r>
              <a:rPr/>
              <a:t> 👁️‍🗨️ “Demonio de Laplace”: predicción perfecta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Caos (Prigogine)</a:t>
            </a:r>
          </a:p>
          <a:p>
            <a:pPr lvl="0" indent="0" marL="0">
              <a:buNone/>
            </a:pPr>
            <a:r>
              <a:rPr/>
              <a:t>🔀 Variaciones mínimas ⇒ trayectorias divergentes 🎲 Fluctuaciones inevitables: térmicas y cuánticas ✨ </a:t>
            </a:r>
            <a:r>
              <a:rPr b="1"/>
              <a:t>El tiempo genera novedad</a:t>
            </a:r>
            <a:r>
              <a:rPr/>
              <a:t> 🤯 Predicción limitada: abanicos de futuros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 observación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 observación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 observación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Principio de Compromiso Predictibilidad–Creatividad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«No es posible maximizar simultáneamente la predictibilidad detallada y la creación de novedad en sistemas dinámicos complejos: cuanto más creativa es su evolución, menos plenamente predecible es su trayectoria fina —y viceversa»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Formulación matemática del Principio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Horizonte de predictibilidad: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ε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Δ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λ</m:t>
                          </m:r>
                        </m:den>
                      </m:f>
                      <m:r>
                        <m:t> </m:t>
                      </m:r>
                      <m:r>
                        <m:rPr>
                          <m:sty m:val="p"/>
                        </m:rPr>
                        <m:t>ln</m:t>
                      </m:r>
                      <m:r>
                        <m:t>​</m:t>
                      </m:r>
                      <m:f>
                        <m:fPr>
                          <m:type m:val="bar"/>
                        </m:fPr>
                        <m:num>
                          <m:r>
                            <m:t>Δ</m:t>
                          </m:r>
                        </m:num>
                        <m:den>
                          <m:r>
                            <m:t>ε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Relación predictibilidad–novedad: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K</m:t>
                          </m:r>
                          <m:r>
                            <m:rPr>
                              <m:sty m:val="p"/>
                            </m:rPr>
                            <m:t>S</m:t>
                          </m:r>
                        </m:sub>
                      </m:sSub>
                      <m:r>
                        <m:t> </m:t>
                      </m:r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ε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Δ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ln</m:t>
                      </m:r>
                      <m:r>
                        <m:t>​</m:t>
                      </m:r>
                      <m:f>
                        <m:fPr>
                          <m:type m:val="bar"/>
                        </m:fPr>
                        <m:num>
                          <m:r>
                            <m:t>Δ</m:t>
                          </m:r>
                        </m:num>
                        <m:den>
                          <m:r>
                            <m:t>ε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donde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m:t>K</m:t>
                        </m:r>
                        <m:r>
                          <m:rPr>
                            <m:sty m:val="p"/>
                          </m:rPr>
                          <m:t>S</m:t>
                        </m:r>
                      </m:sub>
                    </m:sSub>
                  </m:oMath>
                </a14:m>
                <a:r>
                  <a:rPr/>
                  <a:t>: tasa de creación de novedad</a:t>
                </a:r>
              </a:p>
            </p:txBody>
          </p:sp>
        </mc:Choice>
      </mc:AlternateContent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Parte 7. Conclusiones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Cerrando el círculo 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⛔ No podemos predecir </a:t>
            </a:r>
            <a:r>
              <a:rPr b="1"/>
              <a:t>en detalle</a:t>
            </a:r>
            <a:r>
              <a:rPr/>
              <a:t> 🔍 el estado futuro de sistemas caóticos aún sabiendo con exactitud las leyes 🧮 que los rigen, da igual la capacidad de cómputo 🖥️ de la que dispongamos</a:t>
            </a:r>
          </a:p>
          <a:p>
            <a:pPr lvl="0"/>
            <a:r>
              <a:rPr/>
              <a:t>La misma dinámica que limita nuestra capacidad de predecir el futuro 🔮 es la que permite la emergencia de la vida 🧬, de la complejidad 🕸️ y de la novedad 🌟</a:t>
            </a:r>
          </a:p>
          <a:p>
            <a:pPr lvl="0"/>
            <a:r>
              <a:rPr/>
              <a:t>El caos 💥 lejos de ser un obstáculo al conocimiento 📚, es el terreno fértil donde nace lo nuevo ✨.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Recursos</a:t>
            </a:r>
          </a:p>
        </p:txBody>
      </p:sp>
      <p:pic>
        <p:nvPicPr>
          <p:cNvPr descr="img/favic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  <a:r>
              <a:rPr>
                <a:hlinkClick r:id="rId2"/>
              </a:rPr>
              <a:t>https://colacaos.github.io/ColaCAOS/</a:t>
            </a:r>
            <a:br/>
            <a:r>
              <a:rPr/>
              <a:t> </a:t>
            </a:r>
            <a:r>
              <a:rPr>
                <a:hlinkClick r:id="rId3"/>
              </a:rPr>
              <a:t>https://github.com/ColaCaos/ColaCAOS/blob/master/quarto/caos-memoria/memoria.pdf</a:t>
            </a:r>
            <a:br/>
            <a:r>
              <a:rPr/>
              <a:t> </a:t>
            </a:r>
            <a:r>
              <a:rPr>
                <a:hlinkClick r:id="rId4"/>
              </a:rPr>
              <a:t>https://github.com/ColaCaos/ColaCAOS/blob/master/quarto/caos-memoria/memoria.tex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Estudio del Caos en sistemas físicos y su relación con la predicción meteorológica</dc:title>
  <dc:creator>Rubén Torre Merino</dc:creator>
  <cp:keywords/>
  <dcterms:created xsi:type="dcterms:W3CDTF">2025-12-02T21:26:37Z</dcterms:created>
  <dcterms:modified xsi:type="dcterms:W3CDTF">2025-12-02T21:26:37Z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2025-12-02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keep-relative-images">
    <vt:lpwstr>True</vt:lpwstr>
  </property>
  <property fmtid="{D5CDD505-2E9C-101B-9397-08002B2CF9AE}" pid="10" name="labels">
    <vt:lpwstr/>
  </property>
  <property fmtid="{D5CDD505-2E9C-101B-9397-08002B2CF9AE}" pid="11" name="license">
    <vt:lpwstr/>
  </property>
  <property fmtid="{D5CDD505-2E9C-101B-9397-08002B2CF9AE}" pid="12" name="link-citations">
    <vt:lpwstr>True</vt:lpwstr>
  </property>
  <property fmtid="{D5CDD505-2E9C-101B-9397-08002B2CF9AE}" pid="13" name="resources">
    <vt:lpwstr/>
  </property>
  <property fmtid="{D5CDD505-2E9C-101B-9397-08002B2CF9AE}" pid="14" name="subtitle">
    <vt:lpwstr>¿Es el Universo predecible en detalle?</vt:lpwstr>
  </property>
  <property fmtid="{D5CDD505-2E9C-101B-9397-08002B2CF9AE}" pid="15" name="title-slide-attributes">
    <vt:lpwstr/>
  </property>
  <property fmtid="{D5CDD505-2E9C-101B-9397-08002B2CF9AE}" pid="16" name="toc-title">
    <vt:lpwstr>Tabla de contenidos</vt:lpwstr>
  </property>
</Properties>
</file>